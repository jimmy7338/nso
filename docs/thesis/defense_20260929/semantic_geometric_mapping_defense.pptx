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_001.svg" ContentType="image/svg+xml"/>
  <Override PartName="/ppt/media/vector_002.svg" ContentType="image/svg+xml"/>
  <Override PartName="/ppt/media/vector_003.svg" ContentType="image/svg+xml"/>
  <Override PartName="/ppt/media/vector_004.svg" ContentType="image/svg+xml"/>
  <Override PartName="/ppt/media/vector_005.svg" ContentType="image/svg+xml"/>
  <Override PartName="/ppt/media/vector_006.svg" ContentType="image/svg+xml"/>
  <Override PartName="/ppt/media/vector_00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01｜面向工业设施的语义—几何主动三维建图</a:t>
            </a:r>
          </a:p>
          <a:p>
            <a:r>
              <a:t>本研究面向设备布置调整后的环境模型获取，讨论有限预算下如何选择观察方向。研究主体是在CPU虚拟环境中完成的闭环实验。这里的小车照片只说明后续接口条件，不作为实车效果证据。学校、学位、专业及姓名等信息按要求留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02｜工业需求：走遍通道，还不等于建好设备表面</a:t>
            </a:r>
          </a:p>
          <a:p>
            <a:r>
              <a:t>工业生产中设备和工位的布置可能在任务之间发生变化，机器人因此需要重新获取地图。本研究只处理一次任务内静态环境的采集，不研究动态避障或跨时变化检测。有限预算下，从哪一侧看设备会影响遮挡面恢复；因此需要把二维覆盖和三维表面质量同时纳入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03｜三条贡献：方法、机制与可复核的条件性证据</a:t>
            </a:r>
          </a:p>
          <a:p>
            <a:r>
              <a:t>本文贡献是面向该任务的方法组合和机制证据，而不是把贝叶斯更新、乘积指标或四个名称分别当作原创算法。第一，将有限类别先验与主动诊断、预算和返航约束连接。第二，解释类别何时改变方向、错误线索如何被实测几何纠正。第三，用实际路径、深度融合网格及完整预算边界验证条件性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04｜强几何对照：G 同样能够诊断、补看与纠错</a:t>
            </a:r>
          </a:p>
          <a:p>
            <a:r>
              <a:t>为了隔离类别信息，G不是只向前走的弱基线。G和S共享两个公开模板、安全导航图、主动诊断、重访和同一建图器，主要差别是类别先验是否启用。局部任务预算为42个原子动作，共同执行18个动作前缀，再由策略选向。X与Xnf用于错误先验分析，但Xnf同时关闭实测纠正和未来诊断预测，因此是完整策略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05｜四接口与两层闭环：预测决定去哪里，实测形成地图</a:t>
            </a:r>
          </a:p>
          <a:p>
            <a:r>
              <a:t>图示与局部CPU实现对应。OV-SDF登记类别证据，IGCR将当前深度与扫描和模板比较，二者共同形成一次信念更新。STGHP用信念、曝光状态和预算预测下一动作。RPN-UQ检查可执行性及全姿态返航。二维占据与三维TSDF走独立实测分支，预测的表面不会填入实际网格。底部实拍平台只是后续ROS接口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06｜理论解释：类别可信度、诊断代价与方向价值共同作用</a:t>
            </a:r>
          </a:p>
          <a:p>
            <a:r>
              <a:t>局部任务用两种公开构型形成有限假设空间。类别与几何以对数证据组合，类别不会成为不可推翻的真值。右侧简化模型假设两种构型、两条可返航路线和对称诊断可靠度。诊断的价值取决于它比当前信心能多提高多少方向正确率，并扣除代价。模型解释一种机制，不保证实际TSDF质量单调上升，也不是新的贝叶斯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07｜规划与安全执行：一步落实，保留返航</a:t>
            </a:r>
          </a:p>
          <a:p>
            <a:r>
              <a:t>每次规划最多向前预测一个未来诊断事件，比较两分支的期望后续价值，但只执行第一个原子动作。取得新观测后重新规划，不会把预测信念当成实测信念。局部原子动作是前进一米或左右转九十度，每次动作后产生付费观测。执行层检查动作合法、当前剩余预算足够以及最终位置和朝向都能回到起点。该保证依赖已给定的安全图和动作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08｜评价：既要覆盖，也要真实表面的精度与召回</a:t>
            </a:r>
          </a:p>
          <a:p>
            <a:r>
              <a:t>主指标是二维已知覆盖与五厘米阈值表面F1的乘积，同时分列覆盖、精度和召回。精度衡量预测表面与真值的接近程度，召回衡量固定完整外表面被恢复的比例。局部评价使用两模板共同定义的ROI并去除地面，不按方法单独裁剪。场景级扩展使用全网格和不同覆盖定义，不能与局部J直接混合。实验采用实际深度融合，但使用准确位姿，并未验证定位漂移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09｜原确认实验：平均 J₅ 提升 6.16%，2 胜 2 平</a:t>
            </a:r>
          </a:p>
          <a:p>
            <a:r>
              <a:t>原确认在两个已见父布局、各两构型上使用冻结控制器和保留噪声种子，共八条真实闭环轨迹。平均J从0.702576提高到0.745881，即相对6.1638%。四个条件中两胜两平，覆盖完全相同，因此收益主要来自表面质量差异。布局并不是全新类别，这组证据支持受控任务中的类别作用，不代表普遍统计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10｜路径证据：类别首先改变第 19 步的观察方向</a:t>
            </a:r>
          </a:p>
          <a:p>
            <a:r>
              <a:t>图中每一对使用相同坐标范围，并明确起点、方向和转向。构型h1在前18个动作及非语义观测相同时，第19步首先分歧，因此能把首次选择差异与类别证据联系起来。P00的h1中G平移28米而S为26米；P01中两者都为28米。这说明质量收益不是简单依靠更多路程，方向分配也很重要。后续所有路径都会重新受几何反馈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11｜三维证据：展示实际融合网格，而非预测模板</a:t>
            </a:r>
          </a:p>
          <a:p>
            <a:r>
              <a:t>这里是保存深度实际融合得到的网格，使用统一相机和尺度展示，并保留完整四个局部配对条件。用于规划的模板只预测潜在可见表面，不会直接加入TSDF。读图时结合数值精度和召回，不把展示颜色理解成误差，也不通过填孔或美化去制造完整性。变化集中在方向选择影响的侧面和遮挡区域，构型h0则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12｜错误先验能够被纠正：完整策略收益 +2.62%</a:t>
            </a:r>
          </a:p>
          <a:p>
            <a:r>
              <a:t>错误类别关联把真实构型的初始概率压到0.1。第28步获取有辨识力的几何后，概率变为0.978178，第29步纠错策略转为前进，而关闭纠错的策略仍转向。完整X与Xnf对照平均提升2.6241%。需要强调Xnf同时去除了未来诊断预测，不能把该收益完全归因于一条后验公式。保存状态上的两次后验干预只支持下一动作变化，不能虚构反事实终点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13｜预算边界：语义收益随可用预算改变</a:t>
            </a:r>
          </a:p>
          <a:p>
            <a:r>
              <a:t>扩展试验一共128次，96次达到资格条件，32次低预算规划失败。B为30时共同18步前缀已经消耗预算，当前规划不能完成双模板覆盖和返航；这不是所有可能算法都不可行的物理证明。中间预算时原布局和同族变体都有正收益，而B为54时G已经有足够机会获得几何，S的平均差反转。该边界与类别价值是有条件的主张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14｜40 个实测检查点：质量并不随每一步单调增加</a:t>
            </a:r>
          </a:p>
          <a:p>
            <a:r>
              <a:t>使用原八条轨迹中保存的传感数据，在18、24、30、36、42步共重融合40次，没有重跑策略。配对方法在五个时刻的覆盖均相同，30步时已经达到终点覆盖，但表面质量仍继续变化。P00的h1在24步出现微小负差，到终点转为正差。检查点是相同轨迹的相关测量，不是40个独立实验，也不把中途状态当成已完成返航的合格终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15｜独立布局补证：8 条全部完成，1 胜 3 平</a:t>
            </a:r>
          </a:p>
          <a:p>
            <a:r>
              <a:t>最后一轮预先固定两个新背景布局、两个构型、G和S，共八条任务，控制器和评价保持不变。全部任务完成、无碰撞并返航。平均J从0.705188到0.726215，相对提升2.9818%。四个条件中只有后隔断h1为正，其余三组持平；首次动作分歧仍是19。这里新增的是背景和导航布局，两个设备模板已公开，不是新类别泛化。预留额外八次任务未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16｜新增场景展示：同背景对照，真实路径与网格</a:t>
            </a:r>
          </a:p>
          <a:p>
            <a:r>
              <a:t>左图展示新增布局下的完整配对路径，右图为实际深度融合的表面。所有条件都保留在源图与数据中。后隔断h1是唯一动作和结果产生差异的配对：G与S保持相同非语义前缀，S在19步改向，终点联合指标提高0.084109。侧柱两个构型及后隔断h0持平，因此我们把结论限定为方向选择仍有余地的条件，不把新背景个数包装成大量新类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17｜36 次场景级扩展：共享持平，不扩大语义主张</a:t>
            </a:r>
          </a:p>
          <a:p>
            <a:r>
              <a:t>场景级扩展包括原版、地面关联修正和曝光去重修正，共三版、三个布局、四种策略，合计36次。局部S和这里的S不是同一干预：这里B已具有类别先验，S只增加跨实例共享。全部九组S/B的实际动作和终点质量相同。原版一个CELL/G任务运动完成但原评价失败，统一离线派生质量不会改变其原失败身份。最新版本还显示类别有负例、诊断策略有正例，均不能包装成共享创新被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18｜结论边界清楚，才能说明方案在哪些任务中有价值</a:t>
            </a:r>
          </a:p>
          <a:p>
            <a:r>
              <a:t>结果支持的是：在几何尚有歧义、方向有价值差、预算有限时，类别先验可以改变早期观察并改善实际表面。几何反馈为错误先验提供纠正机会。当前局限包括有限构型模板、合成类别线索、准确位姿和公开安全图；高预算与共享实验也给出了明确边界。ROS1和ZED接口可用于未来迁移，但本论文不依赖额外实车性能才能完成仿真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19｜结论：语义的价值在于有条件地改变观察决策</a:t>
            </a:r>
          </a:p>
          <a:p>
            <a:r>
              <a:t>总结三个要点：第一，四接口把类别信念、几何反馈、主动规划和返航执行连起来，但表面始终来自实际观测。第二，原确认和最后的新布局补证都给出条件性类别收益，错误先验完整策略也能改善结果。第三，所有持平、失败和负收益被保留，跨设施共享并未被证明。最终形成可复现代码、主文、补充证据和答辩材料，后续以投稿和学校评阅要求调整文本，不无限扩展实验。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vector_001.sv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vector_002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vector_003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vector_004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vector_005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vector_006.svg"/><Relationship Id="rId4" Type="http://schemas.openxmlformats.org/officeDocument/2006/relationships/image" Target="../media/image8.png"/><Relationship Id="rId5" Type="http://schemas.openxmlformats.org/officeDocument/2006/relationships/image" Target="../media/vector_007.sv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毕业论文答辩 · 2026.09.29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面向工业设施的语义—几何主动三维建图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91640"/>
            <a:ext cx="6583680" cy="10033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77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预算受限的主动观测</a:t>
            </a:r>
          </a:p>
          <a:p>
            <a:pPr algn="l">
              <a:lnSpc>
                <a:spcPts val="377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类别先验 · 几何反馈 · 实测重建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13632"/>
            <a:ext cx="6858000" cy="9372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学校：____________    学位：____________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专业：____________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答辩人：__________    指导教师：__________</a:t>
            </a:r>
          </a:p>
        </p:txBody>
      </p:sp>
      <p:pic>
        <p:nvPicPr>
          <p:cNvPr id="7" name="Picture 6" descr="robot_cutout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60804"/>
            <a:ext cx="3675887" cy="3675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图示为用户提供的原始机器人照片；本报告中的性能结果均来自虚拟环境。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  问题与研究目标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工业需求：走遍通道，还不等于建好设备表面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73352"/>
            <a:ext cx="3447288" cy="25146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3072384" cy="508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072384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布局调整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3072384" cy="6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设备与工位布置改变</a:t>
            </a:r>
          </a:p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需要获取当前环境模型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673352"/>
            <a:ext cx="3447288" cy="25146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47088"/>
            <a:ext cx="3072384" cy="508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23160"/>
            <a:ext cx="3072384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观察有代价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971800"/>
            <a:ext cx="3072384" cy="6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行驶、转向均消耗预算</a:t>
            </a:r>
          </a:p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并须保留完整返航余量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673352"/>
            <a:ext cx="3447288" cy="25146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1847088"/>
            <a:ext cx="3072384" cy="5080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423160"/>
            <a:ext cx="3072384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表面有遮挡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971800"/>
            <a:ext cx="3072384" cy="6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相似初始轮廓可能对应</a:t>
            </a:r>
          </a:p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不同的有效观察方向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45152"/>
            <a:ext cx="10881360" cy="8712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研究问题：类别线索能否在几何尚有歧义时，</a:t>
            </a:r>
          </a:p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帮助有限预算内的观测选择，并改善实测表面？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研究范围：单次静态采集；工业布局变化是需求背景，不等同于已实现变化检测。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02  贡献定位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三条贡献：方法、机制与可复核的条件性证据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7393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10725911" cy="805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方法：将可纠正的类别—构型先验、主动诊断、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返航约束与实测建图连接为一个执行闭环。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89915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789428"/>
            <a:ext cx="10725911" cy="805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机制：用简化决策分析和保存的决策记录解释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“提前选向”与“错误先验纠正”。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02437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914648"/>
            <a:ext cx="10725911" cy="8051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证据：联合路径、实际网格、重建检查点与预算边界，</a:t>
            </a:r>
          </a:p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说明收益成立、持平及消失的条件。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定位为任务化方法与机制贡献；不把标准贝叶斯更新、乘积指标本身或四接口命名视为新算法。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03  局部任务与公平对照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强几何对照：G 同样能够诊断、补看与纠错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0972800" cy="55778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55064"/>
            <a:ext cx="87782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0512" y="1655064"/>
            <a:ext cx="325526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类别先验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5232" y="1655064"/>
            <a:ext cx="6181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几何诊断 / 实测纠正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93976"/>
            <a:ext cx="10972800" cy="557784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87782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212848"/>
            <a:ext cx="325526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关闭；初始均匀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2212848"/>
            <a:ext cx="6181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保留主动诊断、补看和反馈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51760"/>
            <a:ext cx="1097280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70632"/>
            <a:ext cx="87782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770632"/>
            <a:ext cx="325526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正确关联的有限先验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770632"/>
            <a:ext cx="6181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与 G 相同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09544"/>
            <a:ext cx="10972800" cy="557784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28415"/>
            <a:ext cx="87782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3328415"/>
            <a:ext cx="325526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类别关联调换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328415"/>
            <a:ext cx="6181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保留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767328"/>
            <a:ext cx="1097280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86200"/>
            <a:ext cx="87782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Xnf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" y="3886200"/>
            <a:ext cx="325526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类别关联调换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3886200"/>
            <a:ext cx="6181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关闭实测纠正及未来诊断预测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626864"/>
            <a:ext cx="10725911" cy="375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同图、同模板、同噪声设定、同 TSDF；质量只在离线评价。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24967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5139944"/>
            <a:ext cx="10725911" cy="375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局部 B = 42；共同前缀 18；覆盖门槛 80%；返回起始位置与朝向。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这里的局部 S 表示“启用类别”；后续场景级 S 表示“额外跨设施共享”，两者不能混为一谈。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04  实际执行的系统架构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四接口与两层闭环：预测决定去哪里，实测形成地图</a:t>
            </a:r>
          </a:p>
        </p:txBody>
      </p:sp>
      <p:pic>
        <p:nvPicPr>
          <p:cNvPr id="5" name="Picture 4" descr="final_architectur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154" y="1335024"/>
            <a:ext cx="483417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61888" y="186537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63055" y="1755648"/>
            <a:ext cx="5285232" cy="375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OV-SDF：类别 → 有限构型先验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1888" y="245160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5" y="2341880"/>
            <a:ext cx="5285232" cy="375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IGCR：实测几何 → 纠正证据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3037839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2928111"/>
            <a:ext cx="5285232" cy="375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STGHP：信念 + 预算 → 下一动作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1888" y="3624071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5" y="3514343"/>
            <a:ext cx="5285232" cy="3759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RPN-UQ：合法性 + 全姿态返航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4608576"/>
            <a:ext cx="5541264" cy="1106424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782312"/>
            <a:ext cx="5212080" cy="6731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实际深度 → TSDF → 封存 → 离线评价</a:t>
            </a:r>
          </a:p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评价真值不反馈给规划器。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05  信念与决策模型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理论解释：类别可信度、诊断代价与方向价值共同作用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5321808" cy="4059936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44768" y="1627632"/>
            <a:ext cx="5440680" cy="4059936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847088"/>
            <a:ext cx="4846320" cy="4419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实测信念更新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423160"/>
            <a:ext cx="4800600" cy="5245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77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p(h0) = σ(Lg + 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54680"/>
            <a:ext cx="4754880" cy="1036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Ls：类别对数证据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Lg：深度 / 扫描的几何证据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类别初始强度 0.9，可被实测推翻。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4626864"/>
            <a:ext cx="4754880" cy="574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预测中的 0.99 为固定诊断参数，</a:t>
            </a: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不是测得的传感器准确率。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47088"/>
            <a:ext cx="4937760" cy="4419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一次诊断的净价值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423160"/>
            <a:ext cx="493776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Δ · max(0, rd − m) − 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145536"/>
            <a:ext cx="4892040" cy="1036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m = max(p, 1 − p)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Δ：匹配与不匹配方向的价值差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rd：诊断可靠度；κ：诊断代价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4617720"/>
            <a:ext cx="4919472" cy="574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几何已明确、方向等价或诊断很便宜时，</a:t>
            </a:r>
          </a:p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类别的额外价值可能消失。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简化模型还假设诊断后两方向均可行、条件独立和对称可靠度；用于机制解释而非全局最优证明。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06  STGHP / RPN-UQ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规划与安全执行：一步落实，保留返航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73352"/>
            <a:ext cx="3447288" cy="210312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1"/>
            <a:ext cx="3081528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  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96312"/>
            <a:ext cx="3081528" cy="6400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至多一次未来诊断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比较可执行后续价值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673352"/>
            <a:ext cx="3447288" cy="210312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56231"/>
            <a:ext cx="3081528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2  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496312"/>
            <a:ext cx="3081528" cy="6400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只下发第一原子动作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前进 1 m / 转向 90°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7304" y="1673352"/>
            <a:ext cx="3447288" cy="210312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856231"/>
            <a:ext cx="3081528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3  重规划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2496312"/>
            <a:ext cx="3081528" cy="6400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获取实际 RGB-D / 扫描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更新证据后再决策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297680"/>
            <a:ext cx="10789920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1 + d返回(x下一步, 起始全姿态) ≤ b剩余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84064"/>
            <a:ext cx="10515600" cy="408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返航检查约束可执行性；并不承诺全局最优或质量每步上升。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局部任务没有额外 observe 原子动作；每个执行动作后观测一次，另有初始零动作帧。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07  指标与信息边界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评价：既要覆盖，也要真实表面的精度与召回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347472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91639"/>
            <a:ext cx="3145536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Cmap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58568"/>
            <a:ext cx="3145536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可达栅格中已知部分的比例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554480"/>
            <a:ext cx="347472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691639"/>
            <a:ext cx="3145536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F1@5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58568"/>
            <a:ext cx="3145536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表面精度与召回的调和平均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7304" y="1554480"/>
            <a:ext cx="347472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691639"/>
            <a:ext cx="3145536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J5 = Cmap ×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258568"/>
            <a:ext cx="3145536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主指标；P / R / C 同时保留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46120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136392"/>
            <a:ext cx="10725911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相同 ROI：两模板公共范围；固定完整外表面参考，统一去地面。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0372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793998"/>
            <a:ext cx="10725911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实际 RGB-D / 扫描与位姿进入建图；模板预测不补进 TSDF。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56133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451604"/>
            <a:ext cx="10725911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精确位姿与公开安全图是输入条件；不声称提高 SLAM 定位精度。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局部 Cmap 包含已知占据与空闲格；场景级 Cnav 只计实测可导航空闲覆盖，Jnav 使用全网格评价。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08  局部类别作用 · 8 条轨迹 / 4 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原确认实验：平均 J5 提升 6.16%，2 胜 2 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411480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91639"/>
            <a:ext cx="3785615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0.7026 → 0.7459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58568"/>
            <a:ext cx="3785615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平均 J5：G → 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554480"/>
            <a:ext cx="2944368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691639"/>
            <a:ext cx="2615184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+6.16%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258568"/>
            <a:ext cx="2615184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相对均值增益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4" y="1554480"/>
            <a:ext cx="3529584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691639"/>
            <a:ext cx="3200400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2 胜 / 2 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258568"/>
            <a:ext cx="3200400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4 个配对条件；全部完成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17520"/>
            <a:ext cx="10972800" cy="50292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3639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13639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313639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13639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ΔJ5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10972800" cy="50292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63931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P00 / h0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63931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0.7722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363931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0.7722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639311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2336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14223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P00 / 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14223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0.6727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14223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0.7605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414223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+0.0878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6280"/>
            <a:ext cx="10972800" cy="50292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64515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P01 / h0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464515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0.7273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464515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0.7273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464515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02920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14807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P01 / h1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514807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0.6381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514807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0.7236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5148072"/>
            <a:ext cx="25237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+0.0855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相同平均覆盖 0.952544；均为 42 个付费动作、无碰撞、完整返航。独立布局单位为 2。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09  真实路径与动作成本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路径证据：类别首先改变第 19 步的观察方向</a:t>
            </a:r>
          </a:p>
        </p:txBody>
      </p:sp>
      <p:pic>
        <p:nvPicPr>
          <p:cNvPr id="5" name="Picture 4" descr="local_paired_trajectorie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4186" y="1362456"/>
            <a:ext cx="4030755" cy="4983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19088" y="190195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0255" y="1792224"/>
            <a:ext cx="4946904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同一坐标尺度、相同起点与前缀。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253212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5" y="2422398"/>
            <a:ext cx="4946904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h1：第 19 个执行动作首次分歧。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3162300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5" y="3052572"/>
            <a:ext cx="4946904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P00 / h1：G 28 m，S 26 m。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3792474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5" y="3682746"/>
            <a:ext cx="4946904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P01 / h1：两者均为 28 m。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17720"/>
            <a:ext cx="5047488" cy="7391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解释重点：有限预算如何分配给</a:t>
            </a:r>
          </a:p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不同观察方向，而非“走得越多越好”。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10  同视角、同尺度的表面恢复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三维证据：展示实际融合网格，而非预测模板</a:t>
            </a:r>
          </a:p>
        </p:txBody>
      </p:sp>
      <p:pic>
        <p:nvPicPr>
          <p:cNvPr id="5" name="Picture 4" descr="mesh_comparis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442" y="1335024"/>
            <a:ext cx="4157675" cy="50566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46520" y="190195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7688" y="1792224"/>
            <a:ext cx="4873752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所有方法使用相同融合后端。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251383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404110"/>
            <a:ext cx="4873752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相同视角、世界尺度与显示规则。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3125723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015995"/>
            <a:ext cx="4873752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四个配对条件全部展示。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737609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3627881"/>
            <a:ext cx="4873752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结合 P / R / F1 判断恢复质量。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4572000"/>
            <a:ext cx="5038344" cy="1115568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736592"/>
            <a:ext cx="4663440" cy="7061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网格来自测量；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预测的可见面积不等于已重建面积。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11  IGCR 反馈与动作变化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错误先验能够被纠正：完整策略收益 +2.62%</a:t>
            </a:r>
          </a:p>
        </p:txBody>
      </p:sp>
      <p:pic>
        <p:nvPicPr>
          <p:cNvPr id="5" name="Picture 4" descr="publication_timelin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1045" y="1508760"/>
            <a:ext cx="7165148" cy="3099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8" y="4855464"/>
            <a:ext cx="6510528" cy="7721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第 28 步：真实构型概率 0.10 → 0.9782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第 29 步：反馈改变下一动作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5552" y="4873752"/>
            <a:ext cx="3703320" cy="7391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平均 J5</a:t>
            </a:r>
          </a:p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0.655065 → 0.672254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X/Xnf 是完整纠错策略对照；2 cm 下仍存在一个局部负差，未被删去。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12  固定 128 次扩展 · 保留所有失败与负结果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预算边界：语义收益随可用预算改变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347472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91639"/>
            <a:ext cx="3145536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128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58568"/>
            <a:ext cx="3145536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固定清单；不同噪声不算新布局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554480"/>
            <a:ext cx="347472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691639"/>
            <a:ext cx="3145536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96 合格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58568"/>
            <a:ext cx="3145536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全部合格任务纳入质量汇总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7304" y="1554480"/>
            <a:ext cx="3474720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691639"/>
            <a:ext cx="3145536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C97939"/>
                </a:solidFill>
                <a:latin typeface="Noto Sans CJK SC"/>
                <a:ea typeface="Noto Sans CJK SC"/>
                <a:cs typeface="Noto Sans CJK SC"/>
              </a:rPr>
              <a:t>32 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258568"/>
            <a:ext cx="3145536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B = 30；保留记录与失败分母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18104"/>
            <a:ext cx="10972800" cy="57607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36976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236976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 均值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236976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 均值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236976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相对增益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694176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813048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原布局 / B42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813048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813048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0.7466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813048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+6.25%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270248"/>
            <a:ext cx="109728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89120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同族变体 / B42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438912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0.7046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38912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38912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+4.23%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846320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965192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原布局 / B54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4965192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0.9263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965192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0.9198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4965192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-0.70%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495544"/>
            <a:ext cx="10698480" cy="4089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高预算下的负差保留：类别先验不是始终有益的“额外奖励”。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13  原 8 条轨迹的离线重融合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40 个实测检查点：质量并不随每一步单调增加</a:t>
            </a:r>
          </a:p>
        </p:txBody>
      </p:sp>
      <p:pic>
        <p:nvPicPr>
          <p:cNvPr id="5" name="Picture 4" descr="checkpoint_quality_submiss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55" y="1389888"/>
            <a:ext cx="5239049" cy="4901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19088" y="1883664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0255" y="1773936"/>
            <a:ext cx="4928616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8 条保存轨迹 × 5 个固定时刻。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252298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5" y="2413254"/>
            <a:ext cx="4928616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18 / 24 / 30 / 36 / 42 个动作。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3162300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5" y="3052572"/>
            <a:ext cx="4928616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30 步覆盖已达终点，质量仍变化。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380161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5" y="3691889"/>
            <a:ext cx="4928616" cy="39243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P00 / h1 第 24 步保留短时负差。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28032"/>
            <a:ext cx="4974336" cy="7391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这些是离线重融合测量，</a:t>
            </a:r>
          </a:p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不是 40 次新的在线实验。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14  新增两种同族背景布局 · 冻结控制器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独立布局补证：8 条全部完成，1 胜 3 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3447288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91639"/>
            <a:ext cx="3118104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+2.98%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58568"/>
            <a:ext cx="3118104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新布局平均 J5 相对增益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554480"/>
            <a:ext cx="3447288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691639"/>
            <a:ext cx="3118104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 胜 / 3 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258568"/>
            <a:ext cx="3118104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全部四个配对条件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7304" y="1554480"/>
            <a:ext cx="3447288" cy="1143000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691639"/>
            <a:ext cx="3118104" cy="5410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8 / 8 合格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258568"/>
            <a:ext cx="3118104" cy="2768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无新增重试；剩余名额不使用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35808"/>
            <a:ext cx="10972800" cy="50292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54679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154679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154679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154679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ΔJ5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38728"/>
            <a:ext cx="10972800" cy="50292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657600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侧柱布局 / h0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65760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0.7695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65760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0.7695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65760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41648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160520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侧柱布局 / 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416052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0.6716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16052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0.6716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416052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44568"/>
            <a:ext cx="10972800" cy="502920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663440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后隔断布局 / h0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466344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66344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4663440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047488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166359"/>
            <a:ext cx="3895344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后隔断布局 / h1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5166359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0.6422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5166359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0.7263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5166359"/>
            <a:ext cx="2066543" cy="342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+0.0841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新布局单位 = 2；沿用公开双模板与类别映射。与原 +6.16% 分开报告，不宣称新类别泛化。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15  新布局 / 后隔断 h1 · 与主表一致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新增场景展示：同背景对照，真实路径与网格</a:t>
            </a:r>
          </a:p>
        </p:txBody>
      </p:sp>
      <p:pic>
        <p:nvPicPr>
          <p:cNvPr id="5" name="Picture 4" descr="transfer_path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318" y="1353312"/>
            <a:ext cx="4498194" cy="4434840"/>
          </a:xfrm>
          <a:prstGeom prst="rect">
            <a:avLst/>
          </a:prstGeom>
        </p:spPr>
      </p:pic>
      <p:pic>
        <p:nvPicPr>
          <p:cNvPr id="6" name="Picture 5" descr="transfer_meshes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1722" y="1353312"/>
            <a:ext cx="3793658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全部配对条件展示；几何与坐标尺度由原绘图协议固定。改进并未在每个新布局出现。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16  多设施系统验证与适用边界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36 次场景级扩展：共享持平，不扩大语义主张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10972800" cy="61264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64792"/>
            <a:ext cx="34381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最终版 / Jnav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1764792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764792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2" y="1764792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7232" y="1764792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NBV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58568"/>
            <a:ext cx="10972800" cy="61264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77440"/>
            <a:ext cx="34381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巷道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377440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0.7829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377440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377440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2377440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0.7829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71216"/>
            <a:ext cx="1097280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990088"/>
            <a:ext cx="34381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工位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990088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0.7865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990088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0.7865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2990088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0.7865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2990088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0.5155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83864"/>
            <a:ext cx="10972800" cy="61264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602736"/>
            <a:ext cx="34381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环路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602736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3602736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0.6903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3602736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0.6903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3602736"/>
            <a:ext cx="1609344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0.7364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49884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389120"/>
            <a:ext cx="10725911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9 组 S/B：实际动作与质量全相同，未验证额外共享收益。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4969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839970"/>
            <a:ext cx="10725911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局部 S/G 检验类别可用性；这里 S/B 只检验额外共享。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40054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290819"/>
            <a:ext cx="10725911" cy="3594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原流程 35 / 36 合格；1 条原评价失败保留，另有派生质量。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场景级 Jnav 为全网格、多设施宏平均质量 × 实测空闲覆盖；不能与局部 J5 数值直接合并。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17  讨论与后续应用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结论边界清楚，才能说明方案在哪些任务中有价值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73352"/>
            <a:ext cx="10725911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已支持：受控条件下的类别提前选向；完整策略中的错误先验纠正。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7370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63978"/>
            <a:ext cx="10725911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已保留：高预算负差、低预算失败、新布局持平与共享无增益。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164332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054604"/>
            <a:ext cx="10725911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范围：有限模板、合成类别线索、精确位姿、公开安全图。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54958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745230"/>
            <a:ext cx="10725911" cy="42545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后续：自然语义、定位误差与 ROS 1 平台验证，作为迁移补充。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小车照片说明已有接口条件，不用来暗示实车有效性；论文也不宣称优于未完整复现的所有主流方法。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438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18  总结与答辩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4914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结论：语义的价值在于有条件地改变观察决策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46504"/>
            <a:ext cx="10725911" cy="4419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系统：四接口 + 规划 / 执行层次 + 独立实测重建。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691384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581656"/>
            <a:ext cx="10725911" cy="4419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证据：原确认 +6.16%；新布局 +2.98%；完整纠错 +2.62%。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26536"/>
            <a:ext cx="64008" cy="182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416808"/>
            <a:ext cx="10725911" cy="4419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结论：类别收益有条件；额外跨设施共享仍未获得支持。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56048"/>
            <a:ext cx="10945368" cy="52451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lnSpc>
                <a:spcPts val="377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87F8C"/>
                </a:solidFill>
                <a:latin typeface="Noto Sans CJK SC"/>
                <a:ea typeface="Noto Sans CJK SC"/>
                <a:cs typeface="Noto Sans CJK SC"/>
              </a:rPr>
              <a:t>感谢各位老师，敬请批评指正。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34456"/>
            <a:ext cx="11045952" cy="24053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三个百分比来自不同预先说明的比较，不能相加；输出包含可编辑 PPT、同版式 PDF、讲稿与问答。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47104"/>
            <a:ext cx="11036808" cy="1828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36373"/>
                </a:solidFill>
                <a:latin typeface="Noto Sans CJK SC"/>
                <a:ea typeface="Noto Sans CJK SC"/>
                <a:cs typeface="Noto Sans CJK SC"/>
              </a:rPr>
              <a:t>语义—几何主动三维建图    /    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面向工业设施的语义—几何主动三维建图</dc:title>
  <dc:subject>中文毕业论文答辩；原始测量与条件性语义收益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